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8CFF"/>
                </a:solidFill>
                <a:latin typeface="Malgun Gothic"/>
              </a:rPr>
              <a:t>CAPSTONE 2026 · TECH DEEP-DIVE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Malgun Gothic"/>
              </a:rPr>
              <a:t>SpeakUp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멀티모달 커뮤니케이션 코칭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8F0FE"/>
                </a:solidFill>
                <a:latin typeface="Malgun Gothic"/>
              </a:rPr>
              <a:t>발표 · 면접 · 보컬 — 같은 엔진, 루브릭만 교체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37760"/>
            <a:ext cx="1234439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2344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F3A"/>
                </a:solidFill>
                <a:latin typeface="Malgun Gothic"/>
              </a:rPr>
              <a:t>MediaPipe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7" y="49377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7" y="49377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F3A"/>
                </a:solidFill>
                <a:latin typeface="Malgun Gothic"/>
              </a:rPr>
              <a:t>Web Speech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5655" y="49377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05655" y="49377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F3A"/>
                </a:solidFill>
                <a:latin typeface="Malgun Gothic"/>
              </a:rPr>
              <a:t>faster-whisper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3" y="493776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3" y="4937760"/>
            <a:ext cx="20665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F3A"/>
                </a:solidFill>
                <a:latin typeface="Malgun Gothic"/>
              </a:rPr>
              <a:t>@pixiv/three-vrm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5" y="493776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4937760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F3A"/>
                </a:solidFill>
                <a:latin typeface="Malgun Gothic"/>
              </a:rPr>
              <a:t>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3495" y="4937760"/>
            <a:ext cx="996696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83495" y="4937760"/>
            <a:ext cx="996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F3A"/>
                </a:solidFill>
                <a:latin typeface="Malgun Gothic"/>
              </a:rPr>
              <a:t>FastAPI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19" y="4937760"/>
            <a:ext cx="1234439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19" y="4937760"/>
            <a:ext cx="12344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F3A"/>
                </a:solidFill>
                <a:latin typeface="Malgun Gothic"/>
              </a:rPr>
              <a:t>IndexedDB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  <a:latin typeface="Malgun Gothic"/>
              </a:rPr>
              <a:t>팀 Sprinter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PROBLEM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기존 코칭 앱과 무엇이 다른가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A6370"/>
                </a:solidFill>
                <a:latin typeface="Malgun Gothic"/>
              </a:rPr>
              <a:t>기존 코칭 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B3340"/>
                </a:solidFill>
                <a:latin typeface="Malgun Gothic"/>
              </a:rPr>
              <a:t>영상 업로드 → 사후 한 줄 평가</a:t>
            </a:r>
          </a:p>
          <a:p>
            <a:pPr algn="l"/>
            <a:r>
              <a:rPr sz="1500" b="0">
                <a:solidFill>
                  <a:srgbClr val="2B3340"/>
                </a:solidFill>
                <a:latin typeface="Malgun Gothic"/>
              </a:rPr>
              <a:t>신호는 단일 채널 (대개 음성만)</a:t>
            </a:r>
          </a:p>
          <a:p>
            <a:pPr algn="l"/>
            <a:r>
              <a:rPr sz="1500" b="0">
                <a:solidFill>
                  <a:srgbClr val="2B3340"/>
                </a:solidFill>
                <a:latin typeface="Malgun Gothic"/>
              </a:rPr>
              <a:t>시나리오 추가 = 새 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8CFF"/>
                </a:solidFill>
                <a:latin typeface="Malgun Gothic"/>
              </a:rPr>
              <a:t>SpeakUp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발화 한 문장 끝나는 순간 LLM 코칭</a:t>
            </a:r>
          </a:p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시선·표정·자세·손·운율·텍스트 동시</a:t>
            </a:r>
          </a:p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YAML 한 장 추가 = 새 시나리오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3566160" cy="164592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F3A"/>
                </a:solidFill>
                <a:latin typeface="Malgun Gothic"/>
              </a:rPr>
              <a:t>즉시 반응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6370"/>
                </a:solidFill>
                <a:latin typeface="Malgun Gothic"/>
              </a:rPr>
              <a:t>Web Speech API isFinal 단위 LLM 호출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41148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79" y="4114800"/>
            <a:ext cx="3566160" cy="164592"/>
          </a:xfrm>
          <a:prstGeom prst="rect">
            <a:avLst/>
          </a:prstGeom>
          <a:solidFill>
            <a:srgbClr val="FF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4434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F3A"/>
                </a:solidFill>
                <a:latin typeface="Malgun Gothic"/>
              </a:rPr>
              <a:t>다중 신호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50292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6370"/>
                </a:solidFill>
                <a:latin typeface="Malgun Gothic"/>
              </a:rPr>
              <a:t>비전 5fps + 운율 1Hz + 텍스트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41148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4114800"/>
            <a:ext cx="3566160" cy="164592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4434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F3A"/>
                </a:solidFill>
                <a:latin typeface="Malgun Gothic"/>
              </a:rPr>
              <a:t>확장성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50292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6370"/>
                </a:solidFill>
                <a:latin typeface="Malgun Gothic"/>
              </a:rPr>
              <a:t>rubrics/*.yaml 만 교체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3-Layer 평가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실시간 HUD + 의미 이벤트 + 사후 종합 리포트가 한 세션에서 동시에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4572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F3A"/>
                </a:solidFill>
                <a:latin typeface="Malgun Gothic"/>
              </a:rPr>
              <a:t>Rule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8CFF"/>
                </a:solidFill>
                <a:latin typeface="Malgun Gothic"/>
              </a:rPr>
              <a:t>즉시 HUD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7개 트리거 (silence / gaze / smile_absence /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motion_absence / filler / speech_rate / content)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각자 cooldown · 글로벌 2s gate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60520" y="3886200"/>
            <a:ext cx="164592" cy="274320"/>
          </a:xfrm>
          <a:prstGeom prst="rightArrow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79" y="20116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2011680"/>
            <a:ext cx="3566160" cy="457200"/>
          </a:xfrm>
          <a:prstGeom prst="rect">
            <a:avLst/>
          </a:prstGeom>
          <a:solidFill>
            <a:srgbClr val="FF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0756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697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F3A"/>
                </a:solidFill>
                <a:latin typeface="Malgun Gothic"/>
              </a:rPr>
              <a:t>Semantic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246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C44D"/>
                </a:solidFill>
                <a:latin typeface="Malgun Gothic"/>
              </a:rPr>
              <a:t>의미 단위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70332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17종 이벤트로 정규화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chin_on_hand · head_tilt_sustained · …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VisionContextBuffer 3s 스무딩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09559" y="3886200"/>
            <a:ext cx="164592" cy="274320"/>
          </a:xfrm>
          <a:prstGeom prst="rightArrow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20116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2011680"/>
            <a:ext cx="3566160" cy="457200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20756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2697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F3A"/>
                </a:solidFill>
                <a:latin typeface="Malgun Gothic"/>
              </a:rPr>
              <a:t>LLM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3246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4B4B"/>
                </a:solidFill>
                <a:latin typeface="Malgun Gothic"/>
              </a:rPr>
              <a:t>사후 종합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370332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시나리오 YAML 루브릭 로드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axis 점수 + annotated moments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+ 훈련 처방 (Gemini / Claude)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A6370"/>
                </a:solidFill>
                <a:latin typeface="Malgun Gothic"/>
              </a:rPr>
              <a:t>왼쪽 = 실시간   ·   오른쪽 = 사후   —   둘 다 같은 세션에서 병렬로 흐릅니다.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STACK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Tech Stack — 전 영역 오픈소스 조합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레이어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8288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82880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역할 / 비고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11064240" cy="4114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비전 (브라우저)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2402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MediaPipe Tasks-Vision (WASM, GPU)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24028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Face·Pose·Hand Landmarker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실시간 STT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6517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Web Speech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65176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브라우저 네이티브 · isFinal 단위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11064240" cy="4114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63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사후 STT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0632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faster-whisper (medium, int8)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06324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word-timestamp + VAD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747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운율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4747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librosa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47472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F0 / RMS / pitch SD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86200"/>
            <a:ext cx="11064240" cy="4114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886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아바타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8862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@pixiv/three-vrm + three.js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88620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VRM 로더·뼈대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976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녹화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2976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MediaRecorder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29768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video/webm; vp9+opus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09160"/>
            <a:ext cx="11064240" cy="4114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709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클라이언트 저장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7091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IndexedDB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70916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대용량 blob 영구 보관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206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서버 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51206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PostgreSQL 16 (JSONB)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512064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메타·세션·LLM 메시지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5321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백엔드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55321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FastAPI × 3 + Docker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53212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audio · aggregator · coach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436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F3A"/>
                </a:solidFill>
                <a:latin typeface="Malgun Gothic"/>
              </a:rPr>
              <a:t>LLM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40" y="59436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Gemini 2.5 Flash · Claude Sonnet 4.6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94360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LLM_PROVIDER로 스왑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8CFF"/>
                </a:solidFill>
                <a:latin typeface="Malgun Gothic"/>
              </a:rPr>
              <a:t>자체 모델 학습 0 · 핵심 무기는 '잘 고른 조합'과 그 위의 시나리오 추상화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★ CORE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실시간 STT → 에이전트 리액션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Web Speech API의 isFinal = 문장 경계. 문장이 끝나는 그 순간에만 LLM이 깨어납니다.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4F8CFF"/>
                </a:solidFill>
                <a:latin typeface="Malgun Gothic"/>
              </a:rPr>
              <a:t>•  </a:t>
            </a:r>
            <a:r>
              <a:rPr sz="1400" b="1">
                <a:solidFill>
                  <a:srgbClr val="0F1F3A"/>
                </a:solidFill>
                <a:latin typeface="Malgun Gothic"/>
              </a:rPr>
              <a:t>Web Speech API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의 `isFinal` 플래그를 발화 경계로 사용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4F8CFF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단어가 아닌 </a:t>
            </a:r>
            <a:r>
              <a:rPr sz="1400" b="1">
                <a:solidFill>
                  <a:srgbClr val="0F1F3A"/>
                </a:solidFill>
                <a:latin typeface="Malgun Gothic"/>
              </a:rPr>
              <a:t>'한 문장'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 단위로 LLM 1회 호출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4F8CFF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프롬프트는 두 부분으로 구성: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4F8CFF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    └  </a:t>
            </a:r>
            <a:r>
              <a:rPr sz="1400" b="1">
                <a:solidFill>
                  <a:srgbClr val="0F1F3A"/>
                </a:solidFill>
                <a:latin typeface="Malgun Gothic"/>
              </a:rPr>
              <a:t>이전 문장들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 = context (누적 transcript)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4F8CFF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    └  </a:t>
            </a:r>
            <a:r>
              <a:rPr sz="1400" b="1">
                <a:solidFill>
                  <a:srgbClr val="0F1F3A"/>
                </a:solidFill>
                <a:latin typeface="Malgun Gothic"/>
              </a:rPr>
              <a:t>현재 문장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 = 평가/리액션 대상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4F8CFF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발화 종료 직후 </a:t>
            </a:r>
            <a:r>
              <a:rPr sz="1400" b="1">
                <a:solidFill>
                  <a:srgbClr val="0F1F3A"/>
                </a:solidFill>
                <a:latin typeface="Malgun Gothic"/>
              </a:rPr>
              <a:t>≈ 1초 내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 코치 코멘트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4F8CFF"/>
                </a:solidFill>
                <a:latin typeface="Malgun Gothic"/>
              </a:rPr>
              <a:t>•  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글로벌 </a:t>
            </a:r>
            <a:r>
              <a:rPr sz="1400" b="1">
                <a:solidFill>
                  <a:srgbClr val="0F1F3A"/>
                </a:solidFill>
                <a:latin typeface="Malgun Gothic"/>
              </a:rPr>
              <a:t>2s cooldown</a:t>
            </a:r>
            <a:r>
              <a:rPr sz="1400" b="0">
                <a:solidFill>
                  <a:srgbClr val="2B3340"/>
                </a:solidFill>
                <a:latin typeface="Malgun Gothic"/>
              </a:rPr>
              <a:t> + selfHistory 안티-반복으로 비용 제어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4937760" cy="12801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0116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370"/>
                </a:solidFill>
                <a:latin typeface="Malgun Gothic"/>
              </a:rPr>
              <a:t>context  ·  이전 문장들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37744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“여러분 안녕하세요. 오늘 발표는 …”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“먼저 배경부터 말씀드리면 …”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006840" y="3246120"/>
            <a:ext cx="274320" cy="228600"/>
          </a:xfrm>
          <a:prstGeom prst="down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3566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63931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Malgun Gothic"/>
              </a:rPr>
              <a:t>current  ·  isFinal로 막 끝난 문장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5020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F3A"/>
                </a:solidFill>
                <a:latin typeface="Malgun Gothic"/>
              </a:rPr>
              <a:t>“어… 그러니까 결론부터 말씀드리면”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006840" y="4526280"/>
            <a:ext cx="274320" cy="228600"/>
          </a:xfrm>
          <a:prstGeom prst="down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0" y="48463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48463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LLM (Gemini / Claude)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006840" y="5394960"/>
            <a:ext cx="274320" cy="228600"/>
          </a:xfrm>
          <a:prstGeom prst="down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5715000"/>
            <a:ext cx="4937760" cy="548640"/>
          </a:xfrm>
          <a:prstGeom prst="roundRect">
            <a:avLst>
              <a:gd name="adj" fmla="val 40000"/>
            </a:avLst>
          </a:prstGeom>
          <a:solidFill>
            <a:srgbClr val="FF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5715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F3A"/>
                </a:solidFill>
                <a:latin typeface="Malgun Gothic"/>
              </a:rPr>
              <a:t>코치 코멘트 1개 ↩  (≈ 1s)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비전 파이프라인 — MediaPipe Tasks-Vision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브라우저 WASM에서 5 FPS 추론. 원본 프레임은 절대 서버로 가지 않습니다.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6583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46304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FaceLandmarker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478 landmarks</a:t>
            </a:r>
          </a:p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52 blendshapes</a:t>
            </a:r>
          </a:p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head transform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57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Malgun Gothic"/>
              </a:rPr>
              <a:t>산출 신호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774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3340"/>
                </a:solidFill>
                <a:latin typeface="Malgun Gothic"/>
              </a:rPr>
              <a:t>시선 · 미소 · 끄덕임 · 표정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6583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146304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PoseLandmarker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33 keypoints (상체 위주)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Malgun Gothic"/>
              </a:rPr>
              <a:t>산출 신호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7490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3340"/>
                </a:solidFill>
                <a:latin typeface="Malgun Gothic"/>
              </a:rPr>
              <a:t>어깨 기울기 · 자세 · 턱괴기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6583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146304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00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HandLandmarker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Malgun Gothic"/>
              </a:rPr>
              <a:t>21 keypoints ×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800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Malgun Gothic"/>
              </a:rPr>
              <a:t>산출 신호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1206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3340"/>
                </a:solidFill>
                <a:latin typeface="Malgun Gothic"/>
              </a:rPr>
              <a:t>손짓 빈도 · 제스처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1920240"/>
            <a:ext cx="4206240" cy="402336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103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PRIVACY 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5146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원본 카메라 프레임은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브라우저 밖으로 나가지 않음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3703320"/>
            <a:ext cx="3749039" cy="127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3840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  <a:latin typeface="Malgun Gothic"/>
              </a:rPr>
              <a:t>서버로 전송되는 것은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160520"/>
            <a:ext cx="3840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✓ 추출된 랜드마크 숫자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✓ blendshape 강도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✓ 트리거 이벤트 JSON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→  ≈ 1 KB / frame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★ OPEN-SOURCE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VRM 아바타 — 라이브러리는 어디까지, 우리는 어디부터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@pixiv/three-vrm 은 '아바타를 다룰 API'를 줍니다. 카메라 사람을 따라 움직이게 하는 건 우리가 짭니다.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8CFF"/>
                </a:solidFill>
                <a:latin typeface="Malgun Gothic"/>
              </a:rPr>
              <a:t>@pixiv/three-vrm  +  three.js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Malgun Gothic"/>
              </a:rPr>
              <a:t>라이브러리가 대신해주는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✓  VRM 1.0 파일 파싱 · 렌더링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✓  Humanoid Skeleton 추상화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      vrm.humanoid.getNormalizedBoneNode('leftUpperArm')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✓  BlendShape (표정) 인터페이스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✓  LookAt (시선) 인터페이스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54B4B"/>
                </a:solidFill>
                <a:latin typeface="Malgun Gothic"/>
              </a:rPr>
              <a:t>우리가 직접 짠 부분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Malgun Gothic"/>
              </a:rPr>
              <a:t>포즈 따라하기는 라이브러리가 안 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✗  MediaPipe Pose 33 keypoints  →  VRM bone Quaternion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        (retargeting 로직)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✗  MediaPipe Face 52 blendshape  →  VRM expression 매핑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✗  canvas.captureStream(30)으로 아바타 별도 녹화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✗  좌우 반전 · 어깨 안정화 등 보정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F1F3A"/>
                </a:solidFill>
                <a:latin typeface="Malgun Gothic"/>
              </a:rPr>
              <a:t>MediaPipe Landmarks   →   [retarget 자체 구현]   →   VRM Bone Rotation   →   three.js Renderer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REAL-TIME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실시간으로 평가 신호가 흐르는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원본 영상이 아니라 '압축된 의미 신호'만 흐르기 때문에 노트북 한 대로 충분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09728" cy="109728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5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Malgun Gothic"/>
              </a:rPr>
              <a:t>≈ 1 KB/frame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01168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011680"/>
            <a:ext cx="109728" cy="109728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5 FPS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Malgun Gothic"/>
              </a:rPr>
              <a:t>≈ 1 KB/frame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01168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011680"/>
            <a:ext cx="109728" cy="109728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Hand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5 FPS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Malgun Gothic"/>
              </a:rPr>
              <a:t>≈ 1 KB/frame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01168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2011680"/>
            <a:ext cx="109728" cy="1097280"/>
          </a:xfrm>
          <a:prstGeom prst="rect">
            <a:avLst/>
          </a:prstGeom>
          <a:solidFill>
            <a:srgbClr val="FF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Prosody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C44D"/>
                </a:solidFill>
                <a:latin typeface="Malgun Gothic"/>
              </a:rPr>
              <a:t>1 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Malgun Gothic"/>
              </a:rPr>
              <a:t>≈ 1 KB/frame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2011680"/>
            <a:ext cx="2240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2011680"/>
            <a:ext cx="109728" cy="1097280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1488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4B4B"/>
                </a:solidFill>
                <a:latin typeface="Malgun Gothic"/>
              </a:rPr>
              <a:t>isFinal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743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Malgun Gothic"/>
              </a:rPr>
              <a:t>≈ 1 KB/frame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A6370"/>
                </a:solidFill>
                <a:latin typeface="Malgun Gothic"/>
              </a:rPr>
              <a:t>↓   WebSocket (JSON)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3840480"/>
            <a:ext cx="8503920" cy="1280160"/>
          </a:xfrm>
          <a:prstGeom prst="roundRect">
            <a:avLst>
              <a:gd name="adj" fmla="val 10000"/>
            </a:avLst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F8CFF"/>
                </a:solidFill>
                <a:latin typeface="Malgun Gothic"/>
              </a:rPr>
              <a:t>Aggregator  (:8001)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297680"/>
            <a:ext cx="795527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VisionContextBuffer (3s 스무딩)   +   TranscriptBuffer   +   7 Trigger Evaluators   +   2s global cooldown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A6370"/>
                </a:solidFill>
                <a:latin typeface="Malgun Gothic"/>
              </a:rPr>
              <a:t>↓   임계 통과한 트리거만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5623560"/>
            <a:ext cx="4297680" cy="502920"/>
          </a:xfrm>
          <a:prstGeom prst="roundRect">
            <a:avLst>
              <a:gd name="adj" fmla="val 40000"/>
            </a:avLst>
          </a:prstGeom>
          <a:solidFill>
            <a:srgbClr val="FF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56235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F1F3A"/>
                </a:solidFill>
                <a:latin typeface="Malgun Gothic"/>
              </a:rPr>
              <a:t>Coach LLM  →  실시간 HUD 코멘트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★ STORAGE &amp;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대용량 녹화 영상 처리 — AWS 없이 어떻게?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설계 원칙: '영상은 사용자 디바이스에 산다.' 서버는 잠깐 분석만 하고 폐기.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MediaRecorder API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video/webm; vp9+opus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+ canvas.captureStream(30)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(아바타 별도 트랙)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6120" y="3017520"/>
            <a:ext cx="137160" cy="228600"/>
          </a:xfrm>
          <a:prstGeom prst="rightArrow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9202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2057400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103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클라이언트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9748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IndexedDB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speakup-media DB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→ Blob 영구 보관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(localStorage = 메타만)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5040" y="3017520"/>
            <a:ext cx="137160" cy="228600"/>
          </a:xfrm>
          <a:prstGeom prst="rightArrow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9202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103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업로드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9748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POST /analyze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multipart 단일 POST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청크 분할 ✗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로컬 Docker 서비스로 직행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60" y="3017520"/>
            <a:ext cx="137160" cy="228600"/>
          </a:xfrm>
          <a:prstGeom prst="rightArrow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15399" y="192024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98279" y="2057400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79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39" y="2103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Malgun Gothic"/>
              </a:rPr>
              <a:t>서버 처리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2697480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ffmpeg → 16kHz mono wav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faster-whisper + librosa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분석 끝 → 원본 webm 폐기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결과만 PostgreSQL JSONB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8CFF"/>
                </a:solidFill>
                <a:latin typeface="Malgun Gothic"/>
              </a:rPr>
              <a:t>핵심 설계 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0292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F1F3A"/>
                </a:solidFill>
                <a:latin typeface="Malgun Gothic"/>
              </a:rPr>
              <a:t>✓  S3 / 클라우드 스토리지 ✗   →   서버는 영상 영구 저장하지 않음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Malgun Gothic"/>
              </a:rPr>
              <a:t>✓  청크 분할 업로드 ✗   →   단일 multipart POST (대역폭·타임아웃이 사실상 한도, 로컬 검증 수백 MB)</a:t>
            </a:r>
          </a:p>
          <a:p>
            <a:pPr algn="l"/>
            <a:r>
              <a:rPr sz="1300" b="0">
                <a:solidFill>
                  <a:srgbClr val="0F1F3A"/>
                </a:solidFill>
                <a:latin typeface="Malgun Gothic"/>
              </a:rPr>
              <a:t>✓  영구 저장 책임은 클라이언트(IndexedDB), 서버는 분석 파이프라인만 책임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WHY POSTGRES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왜 PostgreSQL인가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비디오는 안 들어갑니다. '의미 있는 텍스트/JSON만 저장' 영역에 정확히 맞아떨어진 선택.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8CFF"/>
                </a:solidFill>
                <a:latin typeface="Malgun Gothic"/>
              </a:rPr>
              <a:t>STORE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50292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•  users · projects · sessions (관계형)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•  agent_messages — LLM 대화 로그 (JSONB)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•  종합 리포트 — axis 점수 · annotated moments (JSONB)</a:t>
            </a:r>
          </a:p>
          <a:p>
            <a:pPr algn="l"/>
            <a:r>
              <a:rPr sz="1300" b="0">
                <a:solidFill>
                  <a:srgbClr val="2B3340"/>
                </a:solidFill>
                <a:latin typeface="Malgun Gothic"/>
              </a:rPr>
              <a:t>•  세션 메타 · 시나리오 · focus_goals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4B4B"/>
                </a:solidFill>
                <a:latin typeface="Malgun Gothic"/>
              </a:rPr>
              <a:t>NOT STORE  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3340"/>
                </a:solidFill>
                <a:latin typeface="Malgun Gothic"/>
              </a:rPr>
              <a:t>영상 blob — IndexedDB가 담당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146304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Malgun Gothic"/>
              </a:rPr>
              <a:t>JSONB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리포트·LLM 응답·이벤트 같은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스키마 유연 데이터를 그대로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인덱싱·쿼리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91840"/>
            <a:ext cx="146304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Malgun Gothic"/>
              </a:rPr>
              <a:t>단일 인스턴스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관계형 + 문서형 동시 해결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Mongo + RDB 이중화 불필요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6634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663440"/>
            <a:ext cx="146304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Malgun Gothic"/>
              </a:rPr>
              <a:t>Docker 친화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1663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Compose에 그대로 얹기 좋음</a:t>
            </a:r>
          </a:p>
          <a:p>
            <a:pPr algn="l"/>
            <a:r>
              <a:rPr sz="1100" b="0">
                <a:solidFill>
                  <a:srgbClr val="2B3340"/>
                </a:solidFill>
                <a:latin typeface="Malgun Gothic"/>
              </a:rPr>
              <a:t>무료 라이선스 · 운영 단순성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시나리오 확장성 — YAML 한 장 = 새 코칭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services/coach/rubrics/*.yaml 만 추가하면 코드 변경 0줄로 새 시나리오 동작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46304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Consolas"/>
              </a:rPr>
              <a:t>presentation.yaml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logic · delivery · gaze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자세 · 표정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146304" cy="1234440"/>
          </a:xfrm>
          <a:prstGeom prst="rect">
            <a:avLst/>
          </a:prstGeom>
          <a:solidFill>
            <a:srgbClr val="FF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Consolas"/>
              </a:rPr>
              <a:t>interview.yaml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자신감 · 답변 명료성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시선 · 페이스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46304" cy="1234440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Consolas"/>
              </a:rPr>
              <a:t>vocal.yaml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피치 다양성 · 발음</a:t>
            </a:r>
          </a:p>
          <a:p>
            <a:pPr algn="l"/>
            <a:r>
              <a:rPr sz="1200" b="0">
                <a:solidFill>
                  <a:srgbClr val="2B3340"/>
                </a:solidFill>
                <a:latin typeface="Malgun Gothic"/>
              </a:rPr>
              <a:t>리듬 · 호흡 · 표정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92024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rubrics/presentation.yaml (발췌)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id: presentation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axes: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  - id: logic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    weight: 1.0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    rubric_text: |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      도입/본론/결론 명확성 …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  - id: delivery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    weight: 1.0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event_kind_emphasis: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  chin_on_hand: blunder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  head_tilt_sustained: mistake</a:t>
            </a:r>
          </a:p>
          <a:p>
            <a:pPr algn="l"/>
            <a:r>
              <a:rPr sz="1100" b="0">
                <a:solidFill>
                  <a:srgbClr val="E8F0FE"/>
                </a:solidFill>
                <a:latin typeface="Consolas"/>
              </a:rPr>
              <a:t>top_priority_count: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SHOW, DON'T TELL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4F8CFF"/>
                </a:solidFill>
                <a:latin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F3A"/>
                </a:solidFill>
                <a:latin typeface="Malgun Gothic"/>
              </a:rPr>
              <a:t>시나리오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370"/>
                </a:solidFill>
                <a:latin typeface="Malgun Gothic"/>
              </a:rPr>
              <a:t>URL ?scenario=presentation</a:t>
            </a:r>
          </a:p>
          <a:p>
            <a:pPr algn="ctr"/>
            <a:r>
              <a:rPr sz="1100" b="0">
                <a:solidFill>
                  <a:srgbClr val="5A6370"/>
                </a:solidFill>
                <a:latin typeface="Malgun Gothic"/>
              </a:rPr>
              <a:t>→ aggregator → coach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97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4F8CFF"/>
                </a:solidFill>
                <a:latin typeface="Malgun Gothi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004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F3A"/>
                </a:solidFill>
                <a:latin typeface="Malgun Gothic"/>
              </a:rPr>
              <a:t>1분 녹화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749039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370"/>
                </a:solidFill>
                <a:latin typeface="Malgun Gothic"/>
              </a:rPr>
              <a:t>MediaPipe 5fps + Web Speech</a:t>
            </a:r>
          </a:p>
          <a:p>
            <a:pPr algn="ctr"/>
            <a:r>
              <a:rPr sz="1100" b="0">
                <a:solidFill>
                  <a:srgbClr val="5A6370"/>
                </a:solidFill>
                <a:latin typeface="Malgun Gothic"/>
              </a:rPr>
              <a:t>실시간 HUD 코멘트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03120"/>
            <a:ext cx="2697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4F8CFF"/>
                </a:solidFill>
                <a:latin typeface="Malgun Gothi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F3A"/>
                </a:solidFill>
                <a:latin typeface="Malgun Gothic"/>
              </a:rPr>
              <a:t>정지 &amp; 업로드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39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370"/>
                </a:solidFill>
                <a:latin typeface="Malgun Gothic"/>
              </a:rPr>
              <a:t>IndexedDB → /analyze</a:t>
            </a:r>
          </a:p>
          <a:p>
            <a:pPr algn="ctr"/>
            <a:r>
              <a:rPr sz="1100" b="0">
                <a:solidFill>
                  <a:srgbClr val="5A6370"/>
                </a:solidFill>
                <a:latin typeface="Malgun Gothic"/>
              </a:rPr>
              <a:t>faster-whisper + librosa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2103120"/>
            <a:ext cx="2697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399" y="2286000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4F8CFF"/>
                </a:solidFill>
                <a:latin typeface="Malgun Gothi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32004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F3A"/>
                </a:solidFill>
                <a:latin typeface="Malgun Gothic"/>
              </a:rPr>
              <a:t>종합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79" y="3749039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A6370"/>
                </a:solidFill>
                <a:latin typeface="Malgun Gothic"/>
              </a:rPr>
              <a:t>axis 점수 · annotated moments</a:t>
            </a:r>
          </a:p>
          <a:p>
            <a:pPr algn="ctr"/>
            <a:r>
              <a:rPr sz="1100" b="0">
                <a:solidFill>
                  <a:srgbClr val="5A6370"/>
                </a:solidFill>
                <a:latin typeface="Malgun Gothic"/>
              </a:rPr>
              <a:t>훈련 처방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30000"/>
            </a:avLst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Backup : 캡처 3장 (라이브 HUD / 리포트 / 아바타 재생) 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8CFF"/>
                </a:solidFill>
                <a:latin typeface="Malgun Gothic"/>
              </a:rPr>
              <a:t>LIMITS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F3A"/>
                </a:solidFill>
                <a:latin typeface="Malgun Gothic"/>
              </a:rPr>
              <a:t>한계와 V2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  <a:latin typeface="Malgun Gothic"/>
              </a:rPr>
              <a:t>V1은 의도적으로 좁게 잘랐습니다. 그 경계가 곧 다음 작업 목록.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1064240" cy="15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A6370"/>
                </a:solidFill>
                <a:latin typeface="Malgun Gothic"/>
              </a:rPr>
              <a:t>V1에서 의도적으로 뺀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B3340"/>
                </a:solidFill>
                <a:latin typeface="Malgun Gothic"/>
              </a:rPr>
              <a:t>•  청크 / Resumable 업로드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B3340"/>
                </a:solidFill>
                <a:latin typeface="Malgun Gothic"/>
              </a:rPr>
              <a:t>•  다중 사용자 협업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B3340"/>
                </a:solidFill>
                <a:latin typeface="Malgun Gothic"/>
              </a:rPr>
              <a:t>•  아바타 UI 노출 (코드는 유지)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B3340"/>
                </a:solidFill>
                <a:latin typeface="Malgun Gothic"/>
              </a:rPr>
              <a:t>•  SER (감정 분류 모델)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B3340"/>
                </a:solidFill>
                <a:latin typeface="Malgun Gothic"/>
              </a:rPr>
              <a:t>•  WhisperX forced alignment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B3340"/>
                </a:solidFill>
                <a:latin typeface="Malgun Gothic"/>
              </a:rPr>
              <a:t>•  향상도 비교 / 개인화 추적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8CFF"/>
                </a:solidFill>
                <a:latin typeface="Malgun Gothic"/>
              </a:rPr>
              <a:t>V2 후보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1F3A"/>
                </a:solidFill>
                <a:latin typeface="Malgun Gothic"/>
              </a:rPr>
              <a:t>•  pyannote — 다중 화자 (대화 시나리오)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1F3A"/>
                </a:solidFill>
                <a:latin typeface="Malgun Gothic"/>
              </a:rPr>
              <a:t>•  OpenFace — 정밀 Action Unit · gaze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1F3A"/>
                </a:solidFill>
                <a:latin typeface="Malgun Gothic"/>
              </a:rPr>
              <a:t>•  wav2vec2 SER — 톤/감정 분류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1F3A"/>
                </a:solidFill>
                <a:latin typeface="Malgun Gothic"/>
              </a:rPr>
              <a:t>•  Resumable upload (tus.io)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1F3A"/>
                </a:solidFill>
                <a:latin typeface="Malgun Gothic"/>
              </a:rPr>
              <a:t>•  아바타 익명 모드 토글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1F3A"/>
                </a:solidFill>
                <a:latin typeface="Malgun Gothic"/>
              </a:rPr>
              <a:t>•  세션 간 향상도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Malgun Gothic"/>
              </a:rPr>
              <a:t>SpeakUp — 멀티모달 커뮤니케이션 코칭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A6370"/>
                </a:solidFill>
                <a:latin typeface="Malgun Gothi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Malgun Gothi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E8F0FE"/>
                </a:solidFill>
                <a:latin typeface="Malgun Gothic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Malgun Gothic"/>
              </a:rPr>
              <a:t>백업 슬라이드: 백엔드 토폴로지 · WebSocket JSON · 트리거 cooldown 표 · rubric YAML 스니펫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